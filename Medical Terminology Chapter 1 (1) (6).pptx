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302" r:id="rId11"/>
    <p:sldId id="268" r:id="rId12"/>
    <p:sldId id="295" r:id="rId13"/>
    <p:sldId id="345" r:id="rId14"/>
    <p:sldId id="269" r:id="rId15"/>
    <p:sldId id="296" r:id="rId16"/>
    <p:sldId id="301" r:id="rId17"/>
    <p:sldId id="297" r:id="rId18"/>
    <p:sldId id="298" r:id="rId19"/>
    <p:sldId id="299" r:id="rId20"/>
    <p:sldId id="300" r:id="rId21"/>
    <p:sldId id="303" r:id="rId22"/>
    <p:sldId id="304" r:id="rId23"/>
    <p:sldId id="314" r:id="rId24"/>
    <p:sldId id="305" r:id="rId25"/>
    <p:sldId id="315" r:id="rId26"/>
    <p:sldId id="316" r:id="rId27"/>
    <p:sldId id="306" r:id="rId28"/>
    <p:sldId id="317" r:id="rId29"/>
    <p:sldId id="318" r:id="rId30"/>
    <p:sldId id="313" r:id="rId31"/>
    <p:sldId id="320" r:id="rId32"/>
    <p:sldId id="325" r:id="rId33"/>
    <p:sldId id="321" r:id="rId34"/>
    <p:sldId id="324" r:id="rId35"/>
    <p:sldId id="327" r:id="rId36"/>
    <p:sldId id="326" r:id="rId37"/>
    <p:sldId id="319" r:id="rId38"/>
    <p:sldId id="328" r:id="rId39"/>
    <p:sldId id="329" r:id="rId40"/>
    <p:sldId id="330" r:id="rId41"/>
    <p:sldId id="331" r:id="rId42"/>
    <p:sldId id="332" r:id="rId43"/>
    <p:sldId id="333" r:id="rId44"/>
    <p:sldId id="335" r:id="rId45"/>
    <p:sldId id="336" r:id="rId46"/>
    <p:sldId id="337" r:id="rId47"/>
    <p:sldId id="338" r:id="rId48"/>
    <p:sldId id="339" r:id="rId49"/>
    <p:sldId id="340" r:id="rId50"/>
    <p:sldId id="342" r:id="rId51"/>
    <p:sldId id="341" r:id="rId52"/>
    <p:sldId id="343" r:id="rId53"/>
    <p:sldId id="334" r:id="rId54"/>
    <p:sldId id="322" r:id="rId55"/>
    <p:sldId id="323" r:id="rId56"/>
    <p:sldId id="344" r:id="rId57"/>
    <p:sldId id="307" r:id="rId58"/>
    <p:sldId id="308" r:id="rId59"/>
    <p:sldId id="309" r:id="rId60"/>
    <p:sldId id="310" r:id="rId61"/>
    <p:sldId id="311" r:id="rId62"/>
    <p:sldId id="312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4" autoAdjust="0"/>
    <p:restoredTop sz="90444" autoAdjust="0"/>
  </p:normalViewPr>
  <p:slideViewPr>
    <p:cSldViewPr snapToGrid="0">
      <p:cViewPr varScale="1">
        <p:scale>
          <a:sx n="105" d="100"/>
          <a:sy n="105" d="100"/>
        </p:scale>
        <p:origin x="6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9D6E9E-DEA3-4701-B2E2-E4A779C66B72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F7C771-2F0A-4F9A-A329-5C133E2AB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130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(A, I, O, U, 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F7C771-2F0A-4F9A-A329-5C133E2AB5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946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Muscle contraction to pump blood</a:t>
            </a:r>
          </a:p>
          <a:p>
            <a:r>
              <a:rPr lang="en-US" dirty="0"/>
              <a:t>Heartbeat</a:t>
            </a:r>
          </a:p>
          <a:p>
            <a:r>
              <a:rPr lang="en-US" sz="1800" b="0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</a:rPr>
              <a:t>The combining vowel </a:t>
            </a:r>
            <a:r>
              <a:rPr lang="en-US" sz="1800" b="0" i="1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</a:rPr>
              <a:t>plus </a:t>
            </a:r>
            <a:r>
              <a:rPr lang="en-US" sz="1800" b="0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</a:rPr>
              <a:t>the root is called a combining form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F7C771-2F0A-4F9A-A329-5C133E2AB5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9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that the combining vowel is dropped when the suffix (-IC) begins with a vowel.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F7C771-2F0A-4F9A-A329-5C133E2AB5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084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F7C771-2F0A-4F9A-A329-5C133E2AB5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13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F7C771-2F0A-4F9A-A329-5C133E2AB53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85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77E88-ED99-494B-9217-700300C4E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B61DE4-C093-4B98-8AD5-3263EC83E8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65519-7A7A-44C0-9A66-0A429C758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10/21/26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18378-F953-4A99-B1C7-253F4113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7BF2C-7554-4078-B698-735B491B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159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2FE84-CD31-439F-8C65-C9F85EE96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18847-6BC7-4DA8-BA6E-E6B8D4522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D2470-47E3-4BD9-AADA-31E52ECA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10/21/26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3CC85-4CD1-4AA6-8FF6-23A77A7ED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168D9-9976-4074-A51A-28403D3A0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020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7A89-0D2C-499A-B929-87886E7BD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B6A13-9BBA-4324-8740-63BBC87C4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8714A-3CA7-457D-A4B6-97DDB15C7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10/21/26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B22B9-0CE3-4306-9C6D-D485B731B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CE3A7-4DCD-41DA-821B-D8B4D5944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668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6DE32-4C89-4B2E-A485-94633EAEE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01E8A-EDA5-43B7-978A-6827A67003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B717F-D09B-44AC-877A-041E93AFE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5D9A1-387B-4202-AF3B-0427C6FA2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10/21/26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CFABE-A758-4B9E-861E-11619A09C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209FA-5693-4D7C-954B-6FE2F5C9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842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FCA6-0C9D-4348-BFB2-FBAF434A8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696B0-D8E4-41C6-A9A1-E497BACE2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3869C-DC10-40D1-99AF-E01A3B140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A165C3-2091-45CC-83FD-B5F6038BCA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EAF342-081F-4438-B113-0E5077AE01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9C1BFB-188A-4C78-9C91-D7788B016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10/21/26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564321-A115-4696-BE68-3D2EEEB01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4AD925-57B3-4B14-98DB-8ABA49961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1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5B6FA-95E8-4487-A934-1CB39C341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50F15D-FE3B-4933-8163-5BA399154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10/21/26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66EFA2-DB12-4E83-87F1-F4AF61D98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56814-EE1F-43D4-B00E-A4839262B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380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FBAFF0-C950-45B4-8F88-44FE4B348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10/21/26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659310-BAC1-4EB8-8069-D4387CD9C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B8591-38EF-47CC-AD95-C303D23F4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76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55F31-FA2F-47C9-A85A-21230A43D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5BBCE-9D00-4A9F-848E-2C94FC2DB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2886F-5E7E-47B2-ACD4-D16AC716D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9D32A-78BF-485B-B8C7-189E55F72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10/21/26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3BDE1-00D9-43B9-BE35-EEF9622F1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86609-7DDE-4BB2-BEB2-3375354CC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01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E9C87-B3B3-4393-BBF6-6CFD50D60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3A750E-D9BB-48E5-9EAE-0C60A0F431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E61D7-1CB4-42B5-A2D4-82AD64264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93772-55FB-4CC3-BDF6-668333D7C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10/21/26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8B7F2-33CB-4E97-8AB4-E5A4A8A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C91DD-BC36-444F-BA27-BB595865D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83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9BBC7-4E11-45C7-AB1E-2B1F4EE26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D02622-4E77-4E72-BE35-37AF4703A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951C0-E254-43DB-A2A9-8D77CF555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10/21/26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51E22-717F-4465-8D92-0839B45A5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3108C-201B-43B7-BF6E-694B77CAC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193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CC3D4E-1DE4-4C88-9CED-EF2405FFB5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B4768D-3B14-44CE-9440-B96B55D90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375FE-BA28-46A4-A73B-68643D292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10/21/26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338E2-A96C-48DD-97CD-0AA037358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28D41-12F8-47EF-8A84-081AA97A8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252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EAFBDA-1EFD-4739-AE0B-247C726D7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715F4-81C7-42EB-8BA5-F1C739BFB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718A4-CF55-4297-A1E3-AE43E8CBF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10/21/26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C104A-930C-4003-A3AE-47D191903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C51B7-2C95-4FC3-858D-37F390266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371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Medical terminology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1</a:t>
            </a:r>
          </a:p>
        </p:txBody>
      </p:sp>
    </p:spTree>
    <p:extLst>
      <p:ext uri="{BB962C8B-B14F-4D97-AF65-F5344CB8AC3E}">
        <p14:creationId xmlns:p14="http://schemas.microsoft.com/office/powerpoint/2010/main" val="4058417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Medical Terminology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The words or terms which make up the language of medicine are referred to as the terminology of the medical field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When you understand the structure of medical terms , you can decode the terms into their parts and derived the meaning quite easily</a:t>
            </a:r>
          </a:p>
        </p:txBody>
      </p:sp>
    </p:spTree>
    <p:extLst>
      <p:ext uri="{BB962C8B-B14F-4D97-AF65-F5344CB8AC3E}">
        <p14:creationId xmlns:p14="http://schemas.microsoft.com/office/powerpoint/2010/main" val="1129364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 of medical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Most of medical terms are based on either Greek or Latin words</a:t>
            </a:r>
          </a:p>
          <a:p>
            <a:endParaRPr lang="en-US" dirty="0"/>
          </a:p>
          <a:p>
            <a:r>
              <a:rPr lang="en-US" dirty="0"/>
              <a:t>Like every other language , medical terminology has changed over time and will continue to change</a:t>
            </a:r>
          </a:p>
        </p:txBody>
      </p:sp>
    </p:spTree>
    <p:extLst>
      <p:ext uri="{BB962C8B-B14F-4D97-AF65-F5344CB8AC3E}">
        <p14:creationId xmlns:p14="http://schemas.microsoft.com/office/powerpoint/2010/main" val="2167365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the medical terminology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Simplify communication /break down the language barrier</a:t>
            </a:r>
          </a:p>
          <a:p>
            <a:endParaRPr lang="en-US" sz="2800" dirty="0"/>
          </a:p>
          <a:p>
            <a:r>
              <a:rPr lang="en-US" sz="2800" dirty="0"/>
              <a:t>Easy understanding (common language )</a:t>
            </a:r>
          </a:p>
          <a:p>
            <a:endParaRPr lang="en-US" sz="2800" dirty="0"/>
          </a:p>
          <a:p>
            <a:r>
              <a:rPr lang="en-US" sz="2800" dirty="0"/>
              <a:t>They are specific terminologies, thus makes no need to use general terminology </a:t>
            </a:r>
          </a:p>
        </p:txBody>
      </p:sp>
    </p:spTree>
    <p:extLst>
      <p:ext uri="{BB962C8B-B14F-4D97-AF65-F5344CB8AC3E}">
        <p14:creationId xmlns:p14="http://schemas.microsoft.com/office/powerpoint/2010/main" val="104471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analysis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95400" y="1769807"/>
            <a:ext cx="9601200" cy="4572000"/>
          </a:xfrm>
        </p:spPr>
        <p:txBody>
          <a:bodyPr>
            <a:normAutofit/>
          </a:bodyPr>
          <a:lstStyle/>
          <a:p>
            <a:r>
              <a:rPr lang="en-US" sz="3500" dirty="0"/>
              <a:t>The medical words contains all or some of these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500" dirty="0"/>
              <a:t>Word root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500" dirty="0"/>
              <a:t>Suffixes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500" dirty="0"/>
              <a:t>Prefixes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500" dirty="0"/>
              <a:t>Combining form </a:t>
            </a:r>
          </a:p>
          <a:p>
            <a:pPr algn="ctr">
              <a:buFont typeface="Wingdings" panose="05000000000000000000" pitchFamily="2" charset="2"/>
              <a:buChar char="Ø"/>
            </a:pPr>
            <a:r>
              <a:rPr lang="en-US" sz="3500" dirty="0"/>
              <a:t> </a:t>
            </a:r>
            <a:r>
              <a:rPr lang="en-US" sz="3500" dirty="0">
                <a:solidFill>
                  <a:srgbClr val="FF0000"/>
                </a:solidFill>
              </a:rPr>
              <a:t>Prefixes / Roots /Suffixes </a:t>
            </a:r>
          </a:p>
          <a:p>
            <a:pPr marL="0" indent="0" algn="ctr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012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root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73045"/>
            <a:ext cx="9601200" cy="4454013"/>
          </a:xfrm>
        </p:spPr>
        <p:txBody>
          <a:bodyPr>
            <a:normAutofit/>
          </a:bodyPr>
          <a:lstStyle/>
          <a:p>
            <a:r>
              <a:rPr lang="en-US" sz="3200" dirty="0"/>
              <a:t>A root is the basic element of a word , and it is the foundation on which the meaning of a word is built 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Roots come from many different languages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All medical terms have at least one word  root </a:t>
            </a:r>
          </a:p>
        </p:txBody>
      </p:sp>
    </p:spTree>
    <p:extLst>
      <p:ext uri="{BB962C8B-B14F-4D97-AF65-F5344CB8AC3E}">
        <p14:creationId xmlns:p14="http://schemas.microsoft.com/office/powerpoint/2010/main" val="2413559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 prefix is a word component placed in front of a root to </a:t>
            </a:r>
            <a:r>
              <a:rPr lang="en-US" sz="3200" dirty="0">
                <a:solidFill>
                  <a:srgbClr val="FF0000"/>
                </a:solidFill>
              </a:rPr>
              <a:t>change or modify </a:t>
            </a:r>
            <a:r>
              <a:rPr lang="en-US" sz="3200" dirty="0"/>
              <a:t>its meaning 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A prefix can give  a root </a:t>
            </a:r>
            <a:r>
              <a:rPr lang="en-US" sz="3200" u="sng" dirty="0"/>
              <a:t>direction or position </a:t>
            </a:r>
            <a:r>
              <a:rPr lang="en-US" sz="3200" dirty="0"/>
              <a:t>. It can also give a root a specific </a:t>
            </a:r>
            <a:r>
              <a:rPr lang="en-US" sz="3200" u="sng" dirty="0"/>
              <a:t>type /classification</a:t>
            </a:r>
            <a:r>
              <a:rPr lang="en-US" sz="3200" dirty="0"/>
              <a:t>, </a:t>
            </a:r>
            <a:r>
              <a:rPr lang="en-US" sz="3200" u="sng" dirty="0"/>
              <a:t>quality or quantity </a:t>
            </a:r>
          </a:p>
        </p:txBody>
      </p:sp>
    </p:spTree>
    <p:extLst>
      <p:ext uri="{BB962C8B-B14F-4D97-AF65-F5344CB8AC3E}">
        <p14:creationId xmlns:p14="http://schemas.microsoft.com/office/powerpoint/2010/main" val="3530555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A suffix  is a word component </a:t>
            </a:r>
            <a:r>
              <a:rPr lang="en-US" sz="3200" dirty="0">
                <a:solidFill>
                  <a:srgbClr val="FF0000"/>
                </a:solidFill>
              </a:rPr>
              <a:t>added to the end of a root </a:t>
            </a:r>
            <a:r>
              <a:rPr lang="en-US" sz="3200" dirty="0"/>
              <a:t>that changes or modifies it </a:t>
            </a:r>
            <a:r>
              <a:rPr lang="en-US" sz="3200" u="sng" dirty="0"/>
              <a:t>usage</a:t>
            </a:r>
            <a:r>
              <a:rPr lang="en-US" sz="3200" dirty="0"/>
              <a:t>, </a:t>
            </a:r>
            <a:r>
              <a:rPr lang="en-US" sz="3200" u="sng" dirty="0"/>
              <a:t>function</a:t>
            </a:r>
            <a:r>
              <a:rPr lang="en-US" sz="3200" dirty="0"/>
              <a:t> or </a:t>
            </a:r>
            <a:r>
              <a:rPr lang="en-US" sz="3200" u="sng" dirty="0"/>
              <a:t>meaning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496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Combining (linking )forms </a:t>
            </a:r>
          </a:p>
          <a:p>
            <a:pPr lvl="1"/>
            <a:r>
              <a:rPr lang="en-US" sz="3200" dirty="0"/>
              <a:t>Word root is combined with a vowel</a:t>
            </a:r>
          </a:p>
          <a:p>
            <a:pPr marL="457200" lvl="1" indent="0">
              <a:buNone/>
            </a:pPr>
            <a:endParaRPr lang="en-US" sz="3200" dirty="0"/>
          </a:p>
          <a:p>
            <a:r>
              <a:rPr lang="en-US" sz="3600" dirty="0"/>
              <a:t>Usually “O”  but occasionally “e” or “I”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sz="3600" dirty="0"/>
              <a:t>Combined form =word root + 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163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7A836F-07DD-4A8E-8033-7E8405396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55" y="1042023"/>
            <a:ext cx="11823290" cy="529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247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1FE5D9-3963-4A4D-B41E-29B79449C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128" y="456227"/>
            <a:ext cx="10025743" cy="315589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C1ACF21-2575-42D3-A896-7B15F358AF86}"/>
              </a:ext>
            </a:extLst>
          </p:cNvPr>
          <p:cNvSpPr/>
          <p:nvPr/>
        </p:nvSpPr>
        <p:spPr>
          <a:xfrm>
            <a:off x="5985164" y="5403425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/>
              <a:t>Letter O, has no meaning but is an important connector between the root and the suffix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B2DCB2-A831-492A-B6F0-29D936D2DA3E}"/>
              </a:ext>
            </a:extLst>
          </p:cNvPr>
          <p:cNvSpPr/>
          <p:nvPr/>
        </p:nvSpPr>
        <p:spPr>
          <a:xfrm>
            <a:off x="2161309" y="4030719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/>
              <a:t>When you analyze a medical term, begin at the end of the word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E7636CE-ECE2-4EDF-BE6D-B111A2956198}"/>
              </a:ext>
            </a:extLst>
          </p:cNvPr>
          <p:cNvSpPr/>
          <p:nvPr/>
        </p:nvSpPr>
        <p:spPr>
          <a:xfrm>
            <a:off x="674255" y="4319068"/>
            <a:ext cx="1163782" cy="37826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0590384-1A4E-4BEF-913C-FFA9A2FFC43C}"/>
              </a:ext>
            </a:extLst>
          </p:cNvPr>
          <p:cNvSpPr/>
          <p:nvPr/>
        </p:nvSpPr>
        <p:spPr>
          <a:xfrm>
            <a:off x="4456546" y="6023509"/>
            <a:ext cx="1163782" cy="37826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669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9EA00F-81F3-41DE-ADB2-39ED23EF0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522" y="615950"/>
            <a:ext cx="8915400" cy="43535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C4E6427-2751-4C6E-BDCC-3102EE4E006E}"/>
              </a:ext>
            </a:extLst>
          </p:cNvPr>
          <p:cNvSpPr/>
          <p:nvPr/>
        </p:nvSpPr>
        <p:spPr>
          <a:xfrm>
            <a:off x="6296849" y="5580285"/>
            <a:ext cx="533173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The combining vowel plus the root is called a combining form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A189DED-DA0C-4C19-B9DD-C16C9CDFDA23}"/>
              </a:ext>
            </a:extLst>
          </p:cNvPr>
          <p:cNvSpPr/>
          <p:nvPr/>
        </p:nvSpPr>
        <p:spPr>
          <a:xfrm>
            <a:off x="4567383" y="5863786"/>
            <a:ext cx="1163782" cy="37826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88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E10A1-98F2-4A68-A38C-F5767D1F8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ELECTR/0/CARDI/O/GRAM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48B2F-BA9B-4030-87C7-D7D82BE90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It is the electrical current flowing within the heart that causes the heart muscle to contract, pumping blood throughout the body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The sound made by contraction and relaxation of the heart muscle is called the heartbeat</a:t>
            </a:r>
          </a:p>
        </p:txBody>
      </p:sp>
    </p:spTree>
    <p:extLst>
      <p:ext uri="{BB962C8B-B14F-4D97-AF65-F5344CB8AC3E}">
        <p14:creationId xmlns:p14="http://schemas.microsoft.com/office/powerpoint/2010/main" val="2029036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B3F0F7-DE71-45DF-878B-01678E7AE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935" y="2286000"/>
            <a:ext cx="9888235" cy="266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948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E97E67-36F3-48E7-ADEC-5E001964C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581" y="1725814"/>
            <a:ext cx="8006838" cy="357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085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DCFBB-B58A-4852-9B40-D8487EE25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4673" y="5885952"/>
            <a:ext cx="4006273" cy="480131"/>
          </a:xfrm>
        </p:spPr>
        <p:txBody>
          <a:bodyPr wrap="square">
            <a:spAutoFit/>
          </a:bodyPr>
          <a:lstStyle/>
          <a:p>
            <a:r>
              <a:rPr lang="en-US" sz="2800" b="1" dirty="0">
                <a:latin typeface="+mn-lt"/>
                <a:ea typeface="+mn-ea"/>
                <a:cs typeface="+mn-cs"/>
              </a:rPr>
              <a:t>Drop of Combining Vowel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F084A8-187A-48FD-BE79-04DFC3502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034" y="1993413"/>
            <a:ext cx="8620842" cy="2871174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A0869E77-9905-4A97-A244-412CB794DABF}"/>
              </a:ext>
            </a:extLst>
          </p:cNvPr>
          <p:cNvSpPr/>
          <p:nvPr/>
        </p:nvSpPr>
        <p:spPr>
          <a:xfrm>
            <a:off x="6096000" y="5987819"/>
            <a:ext cx="1163782" cy="37826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0FAFBA-A552-4A35-A84B-2BA46900BB7F}"/>
              </a:ext>
            </a:extLst>
          </p:cNvPr>
          <p:cNvSpPr/>
          <p:nvPr/>
        </p:nvSpPr>
        <p:spPr>
          <a:xfrm>
            <a:off x="6373091" y="159523"/>
            <a:ext cx="564341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Words ending with –IC/ –AC are  adjectives that modify a noun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3AA0B47-0E6F-44CE-A4EE-D5BD6F925A27}"/>
              </a:ext>
            </a:extLst>
          </p:cNvPr>
          <p:cNvSpPr/>
          <p:nvPr/>
        </p:nvSpPr>
        <p:spPr>
          <a:xfrm>
            <a:off x="4932218" y="331408"/>
            <a:ext cx="1163782" cy="37826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46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E274B0-40B2-40EC-81C8-D0765A635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594" y="1153728"/>
            <a:ext cx="7826811" cy="351607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6D0458-26E5-4F66-BC3D-E4066C935DC4}"/>
              </a:ext>
            </a:extLst>
          </p:cNvPr>
          <p:cNvSpPr/>
          <p:nvPr/>
        </p:nvSpPr>
        <p:spPr>
          <a:xfrm>
            <a:off x="6167078" y="5474601"/>
            <a:ext cx="6096000" cy="125572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2800" b="1" dirty="0"/>
              <a:t>The combining vowel (O) is dropped when the suffix (-AC) begins with a vowel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D484B4-C0AF-4A09-B3F4-4BB88E3D9B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9255" y="5826372"/>
            <a:ext cx="1182727" cy="41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627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7C82CA-F648-49D8-BD89-EAE698941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755" y="1166848"/>
            <a:ext cx="8363269" cy="33789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E16A16-1E05-4F00-AA8F-D5A7785EF8F1}"/>
              </a:ext>
            </a:extLst>
          </p:cNvPr>
          <p:cNvSpPr txBox="1"/>
          <p:nvPr/>
        </p:nvSpPr>
        <p:spPr>
          <a:xfrm>
            <a:off x="3045228" y="5257187"/>
            <a:ext cx="8616745" cy="8679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defRPr sz="2800" b="1"/>
            </a:lvl1pPr>
          </a:lstStyle>
          <a:p>
            <a:r>
              <a:rPr lang="en-US" dirty="0"/>
              <a:t>Combining vowel (O) is dropped because the suffix (-ITIS) begins with a vowel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405124-8256-4695-83A5-19A33C7BF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791" y="5483870"/>
            <a:ext cx="1182727" cy="41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1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3CD28A-6D3C-4B48-AD6B-3FC932D25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0" y="1810593"/>
            <a:ext cx="7414986" cy="32368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CF454E-1C06-4BD1-B1CD-D890280024F0}"/>
              </a:ext>
            </a:extLst>
          </p:cNvPr>
          <p:cNvSpPr txBox="1"/>
          <p:nvPr/>
        </p:nvSpPr>
        <p:spPr>
          <a:xfrm>
            <a:off x="2324100" y="5544262"/>
            <a:ext cx="9501648" cy="8679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defRPr sz="2800" b="1"/>
            </a:lvl1pPr>
          </a:lstStyle>
          <a:p>
            <a:r>
              <a:rPr lang="en-US" dirty="0"/>
              <a:t>Combining vowel (O) remains between the two roots here, even though the second root (ENTER) begins with a vowel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6E6C1D-3A8C-4423-99A0-3BDD60BEA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91" y="5770945"/>
            <a:ext cx="1182727" cy="41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97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D3BC56-22AA-4E96-93D3-D3E3B8AFB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" y="1016828"/>
            <a:ext cx="11074400" cy="547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827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5075DD-D215-4EC5-B05E-E995B36DD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15" y="324464"/>
            <a:ext cx="11163480" cy="620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152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D8A95B-C05C-4F83-ABA2-B602D1FD7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1" y="338436"/>
            <a:ext cx="11031794" cy="45588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053B30-8DC8-491E-A2DB-91CF401D6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1" y="4897242"/>
            <a:ext cx="11031794" cy="196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792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30D547-EDA8-43FA-9193-770E8FC84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239" y="256922"/>
            <a:ext cx="7862119" cy="634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582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6F4018-9620-44AF-AD04-25FF84F8B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65" y="624985"/>
            <a:ext cx="11257935" cy="38732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F471F2-5E94-4665-84E2-CD2B491DD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64" y="4498259"/>
            <a:ext cx="11257935" cy="219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692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4A042-DED4-41F5-81C2-0DCA54A54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099" y="281152"/>
            <a:ext cx="8801802" cy="629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4504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CD1FD2-18C2-4D14-BA3F-67A764360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01" y="470838"/>
            <a:ext cx="11285693" cy="556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4715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58359A-BE1B-4AEB-A884-08493BBBE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19" y="1022385"/>
            <a:ext cx="11557820" cy="481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776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34EE1B-1D9F-403D-AD83-24D97954F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735" y="0"/>
            <a:ext cx="73446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28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26FC8F-CEB8-4647-89A7-64A15F0B4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26" y="0"/>
            <a:ext cx="83180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3247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F59EED-ACDF-4AC7-9A13-8683DB2D4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44" y="934612"/>
            <a:ext cx="11233355" cy="498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064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AB5F94-D95B-4DC7-B180-5B78B6090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52" y="353962"/>
            <a:ext cx="11292348" cy="38640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319939-F56D-4FB7-8CE9-2A9577ED8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52" y="4365516"/>
            <a:ext cx="11292348" cy="238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4158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101EAE-D0A9-411E-A0AB-FB2C0B268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851" y="0"/>
            <a:ext cx="10205883" cy="699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2083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A88E62-D24F-4241-B861-6404846BC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045" y="361335"/>
            <a:ext cx="10738877" cy="613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2428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568645-A1FE-4C9B-B6AF-8B4DF961F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80" y="317090"/>
            <a:ext cx="9744508" cy="622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201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CE78DB-3824-449A-B38E-DF88CC8A5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44" y="1326612"/>
            <a:ext cx="10972801" cy="420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626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F84B99-42F3-4EA8-BE9D-7D25BCFDF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05" y="0"/>
            <a:ext cx="10987549" cy="676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1824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60DDE2-8C66-45FC-AB30-61DEF0AA0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116" y="832238"/>
            <a:ext cx="10376719" cy="543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7020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E22548-2A9E-42F4-BEE6-6AAD6DBEB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10" y="141814"/>
            <a:ext cx="11105536" cy="49520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DD96D8-891A-4A7A-BAD4-BB577395C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10" y="5093863"/>
            <a:ext cx="11105536" cy="162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6205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E6CD38-C46C-44C7-9BA5-EC6D1E2AE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39" y="199103"/>
            <a:ext cx="10722077" cy="679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3800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7EC070-77E6-48EE-8894-4A9DD4F01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143" y="73742"/>
            <a:ext cx="10317676" cy="671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4961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DE9A72-54EE-41A2-9A2C-33AEABBAC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45" y="1003575"/>
            <a:ext cx="10953135" cy="443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7760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B33F2B-3FDE-42C9-A492-837EA75E8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65" y="150366"/>
            <a:ext cx="10781071" cy="655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3413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2D392D-CAFB-4850-B674-9722EF97D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57" y="3839208"/>
            <a:ext cx="10997381" cy="30187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2C398A-D844-438C-BDF8-B300528AF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58" y="265470"/>
            <a:ext cx="10997381" cy="379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052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7DBD38-8A05-44D9-9124-DF3D06C0C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14" y="310821"/>
            <a:ext cx="11282516" cy="654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9159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13D9E7-4001-4522-A808-5289F4F55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557" y="294968"/>
            <a:ext cx="10320886" cy="643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899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F92597-2052-494D-835D-A08E9517B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89" y="584910"/>
            <a:ext cx="10328355" cy="498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4781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14A980-CA9C-4507-877D-0055F96B1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80" y="112178"/>
            <a:ext cx="10840091" cy="5506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E99273-9F3F-42E5-AE6E-2C2B14126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80" y="5619136"/>
            <a:ext cx="10736826" cy="112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4175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6B8396-7439-45A2-AE6C-8E37C20B9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257" y="274248"/>
            <a:ext cx="10912866" cy="630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2257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258A2-FC55-4C32-B0B9-627F3F8E4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94" y="1085116"/>
            <a:ext cx="10690947" cy="468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4971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12EBD6-3851-4308-9F6E-4D7A1B0CC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76" y="1966908"/>
            <a:ext cx="10693311" cy="292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6295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4D8107-60DB-4545-AAB1-AB7BE980A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87" y="324872"/>
            <a:ext cx="10694336" cy="620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5074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9942A4-94BB-4B7F-A867-CCAB1B496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38" y="221682"/>
            <a:ext cx="10736826" cy="589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929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2F7DF3-8511-4339-B426-9AA21AB7D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155" y="420334"/>
            <a:ext cx="10677832" cy="601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7302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1452EA-C825-456A-ABE0-D0A4E06A6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16" y="803268"/>
            <a:ext cx="11425084" cy="501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21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E34A98-121F-447A-8B20-6688C3720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135" y="703013"/>
            <a:ext cx="11144865" cy="50046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22464C-94EB-4173-BCD2-0F612CFE8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135" y="6035288"/>
            <a:ext cx="6564086" cy="509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3788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8E9334-EB5B-4F17-9FD6-0D3831240E9E}"/>
              </a:ext>
            </a:extLst>
          </p:cNvPr>
          <p:cNvSpPr txBox="1"/>
          <p:nvPr/>
        </p:nvSpPr>
        <p:spPr>
          <a:xfrm>
            <a:off x="1769807" y="2654709"/>
            <a:ext cx="89080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Exercises </a:t>
            </a:r>
          </a:p>
        </p:txBody>
      </p:sp>
    </p:spTree>
    <p:extLst>
      <p:ext uri="{BB962C8B-B14F-4D97-AF65-F5344CB8AC3E}">
        <p14:creationId xmlns:p14="http://schemas.microsoft.com/office/powerpoint/2010/main" val="40285966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ADF182-5BDD-4A65-BF40-1D92538BD9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639" b="10751"/>
          <a:stretch/>
        </p:blipFill>
        <p:spPr>
          <a:xfrm>
            <a:off x="781119" y="1769806"/>
            <a:ext cx="11198388" cy="41295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56373AA-8D3C-4988-B963-E3A64F892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141" y="283906"/>
            <a:ext cx="9601200" cy="1485900"/>
          </a:xfrm>
        </p:spPr>
        <p:txBody>
          <a:bodyPr/>
          <a:lstStyle/>
          <a:p>
            <a:r>
              <a:rPr lang="en-US" dirty="0"/>
              <a:t>Suffixes </a:t>
            </a:r>
          </a:p>
        </p:txBody>
      </p:sp>
    </p:spTree>
    <p:extLst>
      <p:ext uri="{BB962C8B-B14F-4D97-AF65-F5344CB8AC3E}">
        <p14:creationId xmlns:p14="http://schemas.microsoft.com/office/powerpoint/2010/main" val="31257870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8D029-F187-4985-8A30-C654505D7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Suffixes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3273F-C10B-4EFE-9027-9DD3A3FABD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320" b="13465"/>
          <a:stretch/>
        </p:blipFill>
        <p:spPr>
          <a:xfrm>
            <a:off x="883547" y="1784555"/>
            <a:ext cx="10929911" cy="41590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118079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AFC32-3C01-4C97-A38A-9087E816F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Prefixes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8C0B25-DE90-420F-8CD7-534C2DF269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859" b="11992"/>
          <a:stretch/>
        </p:blipFill>
        <p:spPr>
          <a:xfrm>
            <a:off x="855406" y="1983658"/>
            <a:ext cx="10972799" cy="37829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589160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395C8-2F6F-4291-AF27-A08BEA21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97E8FF-864D-4E08-AADE-1A88112A5A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837" b="11721"/>
          <a:stretch/>
        </p:blipFill>
        <p:spPr>
          <a:xfrm>
            <a:off x="1071716" y="2462980"/>
            <a:ext cx="10392697" cy="32593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34369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555C2-440B-4211-870F-BB07AD80F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8516D2-2C2E-4CB6-9A39-BFBB734989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366" b="10721"/>
          <a:stretch/>
        </p:blipFill>
        <p:spPr>
          <a:xfrm>
            <a:off x="1071716" y="2422422"/>
            <a:ext cx="10589342" cy="33036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009921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ECE04-6950-4F92-8998-65B38E76E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3BF84F-1B03-4722-BB9B-9F6202D711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157" b="11039"/>
          <a:stretch/>
        </p:blipFill>
        <p:spPr>
          <a:xfrm>
            <a:off x="899652" y="2580967"/>
            <a:ext cx="10867360" cy="33847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49539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1392</TotalTime>
  <Words>510</Words>
  <Application>Microsoft Macintosh PowerPoint</Application>
  <PresentationFormat>Widescreen</PresentationFormat>
  <Paragraphs>74</Paragraphs>
  <Slides>62</Slides>
  <Notes>5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8" baseType="lpstr">
      <vt:lpstr>Arial</vt:lpstr>
      <vt:lpstr>Calibri</vt:lpstr>
      <vt:lpstr>Calibri Light</vt:lpstr>
      <vt:lpstr>Times New Roman</vt:lpstr>
      <vt:lpstr>Wingdings</vt:lpstr>
      <vt:lpstr>Office Theme</vt:lpstr>
      <vt:lpstr>Medical terminology </vt:lpstr>
      <vt:lpstr> Medical Terminology </vt:lpstr>
      <vt:lpstr>Origin of medical terms</vt:lpstr>
      <vt:lpstr>Importance of the medical terminology  </vt:lpstr>
      <vt:lpstr>Word analysis</vt:lpstr>
      <vt:lpstr>Word root  </vt:lpstr>
      <vt:lpstr>Prefix</vt:lpstr>
      <vt:lpstr>Suffix</vt:lpstr>
      <vt:lpstr>Combining form  </vt:lpstr>
      <vt:lpstr>PowerPoint Presentation</vt:lpstr>
      <vt:lpstr>PowerPoint Presentation</vt:lpstr>
      <vt:lpstr>PowerPoint Presentation</vt:lpstr>
      <vt:lpstr>ELECTR/0/CARDI/O/GRAM</vt:lpstr>
      <vt:lpstr>PowerPoint Presentation</vt:lpstr>
      <vt:lpstr>PowerPoint Presentation</vt:lpstr>
      <vt:lpstr>Drop of Combining Vowel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Suffixes </vt:lpstr>
      <vt:lpstr>Suffixes </vt:lpstr>
      <vt:lpstr>Prefixes</vt:lpstr>
      <vt:lpstr>Combining Forms</vt:lpstr>
      <vt:lpstr>Combining Forms</vt:lpstr>
      <vt:lpstr>Combining Forms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terminology</dc:title>
  <dc:creator>admin</dc:creator>
  <cp:lastModifiedBy>sawsan hamarsheh</cp:lastModifiedBy>
  <cp:revision>88</cp:revision>
  <dcterms:created xsi:type="dcterms:W3CDTF">2020-03-18T11:37:42Z</dcterms:created>
  <dcterms:modified xsi:type="dcterms:W3CDTF">2026-10-20T21:20:11Z</dcterms:modified>
</cp:coreProperties>
</file>